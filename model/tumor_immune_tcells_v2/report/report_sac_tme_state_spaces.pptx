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SAC-TME State Space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CFD8E3"/>
                </a:solidFill>
                <a:latin typeface="Calibri"/>
              </a:rPr>
              <a:t>Observation design for SAC on a PhysiCell tumour micro-environment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Project: SAC_ASYNC_TME_Tcells (W&amp;B)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Algorithm: Soft Actor-Critic with asynchronous parallel environments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Environment: PhysiGym —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2026-05-18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Environment &amp; task — PhysiCell TME with T-cells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Biological model — cell types, substrates, rules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Reward function &amp; training setup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Seven observation modes (S1–S5, I1–I2)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Aggregated results across seeds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Episode case studies (run_000143, run_000147)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W&amp;B training &amp; test curves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Key findings &amp;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Environment &amp;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PhysiCell tumour micro-environment, 2D, 63×63 µm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Cell types modelled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390144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tumor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Target — to be eliminated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Immune effector (M1 / M2)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t_cell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Adaptive immune effector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20040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Domain &amp; time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611880"/>
          <a:ext cx="58521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68"/>
                <a:gridCol w="3344091"/>
              </a:tblGrid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63 × 63 µm (2D)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Diffusion dt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0.01 min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Mechanics dt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Phenotype dt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 min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Max sim 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10 080 min (7 days)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RL gym step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Five microenvironment substrates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37160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685800"/>
                <a:gridCol w="685800"/>
                <a:gridCol w="205740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Substrate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Diff.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Decay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anti_tumoral_factor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Attracts T-cells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pro_tumoral_factor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Promotes tumor growth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drug_1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Agent-controlled drug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tumor_molecule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Danger signal (tumor)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cytokine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From T-cells, kills tumor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5943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Action: spatially-targeted drug_1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Biological Model — Cell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48000"/>
                <a:gridCol w="3048000"/>
                <a:gridCol w="30480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Tumor (red)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T-cell (blue)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Macrophage (green)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Proliferation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3×10⁻⁴ / min ≈ 0.432 / day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 (no division)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Apoptosis rate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1×10⁻⁶ / min (rises with cytokine)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 (immortal in sim)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Motility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Immobile (speed = 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Active (speed 0.1 µm/min)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Active (speed 0.1 µm/min)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Chemotaxis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+0.3 toward anti_tumoral_factor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 toward tumor_molecule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Secretion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tumor_molecule @ rate 1.0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cytokine @ rate 1.0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 / anti tumoral factor (rule-driven)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Uptake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anti &amp; pro tumoral factor (rate 1.0)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Adhesion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All cells (affinity 1.0)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Tumor only (1.0)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Tumor only (1.0)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2.4 Cell Rules (CBHG v3.0)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Signal → response, applied every phenotype step (6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2999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2449285"/>
                <a:gridCol w="1632857"/>
                <a:gridCol w="3265714"/>
                <a:gridCol w="816428"/>
                <a:gridCol w="816428"/>
                <a:gridCol w="816428"/>
              </a:tblGrid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Half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tumor_molecule 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pro_tumoral_factor secretion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drug_1 ↑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pro_tumoral_factor secretion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drug_1 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anti_tumoral_factor secretion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tumor_molecule ↑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anti_tumoral_factor secretion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tumor_molecule 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decreases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migration speed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tumor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cytokine ↑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increases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apoptosis rate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Biological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Tumor burden → M2-like macrophages: ↑ pro_tumoral_factor, ↓ anti_tumoral_factor, slower migration.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drug_1 re-polarises macrophages to M1-like: suppresses pro_tumoral, boosts anti_tumoral — the therapeutic mechanism.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T-cell cytotoxicity is delivered via cytokine: T-cells must physically reach the tumor to kill it (Hill function, n=4).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2.5 Complete Signalling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5394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Tumor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├── secretes ─▶ tumor_molecule ──▶ macrophage chemotaxis (attracts)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│                                ├─▶ macrophage rule: ↑ pro_tumoral_factor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│                                ├─▶ macrophage rule: ↓ anti_tumoral_factor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│                                └─▶ macrophage rule: ↓ migration speed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└── responds to ◀── cytokine (T-cell) ──▶ ↑ apoptosis rate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T-cell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├── secretes ─▶ cytokine ──▶ tumor apoptosis (rule)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├── uptakes ─── anti_tumoral_factor   (depletes pool)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├── uptakes ─── pro_tumoral_factor    (depletes pool)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└── chemotaxis ─▶ toward anti_tumoral_factor (+0.3)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      ◀── indirectly REPELLED from pro_tumoral_factor zones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Macrophage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├── secretes ─▶ pro_tumoral_factor  (tumor_molecule high → M2)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├── secretes ─▶ anti_tumoral_factor (drug_1 high → M1)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└── chemotaxis ─▶ toward tumor_molecule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drug_1 (agent-controlled, non-diffusing, half-life ≈ 14 min)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onsolas"/>
              </a:rPr>
              <a:t>  └── re-polarises macrophages: ↓ pro_tumoral, ↑ anti_tumoral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2.6 Why Substrate Observations Are Crucial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 drug effect is indirect — the agent cannot observe tumor death per step; it must infer macrophage polarisation from pro/anti tumoral factor gradients.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T-cell positioning is functionally coupled to substrate gradients — observing them lets the agent predict where cytokine-mediated killing will occur.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pro_tumoral_factor is the key immunosuppression indicator — high values mean both M2 polarisation and T-cell repulsion.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 scalar max(pro_tumoral_factor) (S2) loses spatial structure — the agent cannot tell WHERE the immunosuppressive zone is relative to tumor or T-cells.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 64×64 substrate channels preserve this spatial coupling — explaining why image modes generalise far better to novel layouts (circular, rectangle).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Reward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Normalised tumor-reduction signal, trajectory-sensitive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Consolas"/>
              </a:rPr>
              <a:t>r(t)  =  (c_{t-1} − c_t) / expected_growth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onsolas"/>
              </a:rPr>
              <a:t>where  expected_growth = c_{t-1} · (exp(λ·Δt) − 1)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c_t = alive tumor count at step 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λ = intrinsic tumor growth rate (PhysiCell XML, 2.99×10⁻⁴ /min)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Δt = gym step duration (15 min)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Reward weight: w_cell = 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+1.0 → agent suppressed exactly the natural growth.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0     → no net change.   |   negative → tumor grew.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Episode terminates: c_t ≤ 3 (eradication) or c_t &gt; 256 (uncontrolled).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Metric: charts/train_return_mean50 — EMA over last 50 episodes.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State Spaces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Seven observation modes — five scalar, two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960120"/>
          <a:ext cx="116128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218"/>
                <a:gridCol w="3746090"/>
                <a:gridCol w="1123827"/>
                <a:gridCol w="1498436"/>
                <a:gridCol w="4495308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scalars_cells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(3,)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Normalised alive count per cell type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scalars_cells_substrates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(8,)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Cell counts + max substrate concentration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spatial_scalars_cells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(21,)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Cell counts + per-type spatial statistics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spatial_scalars_cells_substrates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(27,)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Cell counts + substrate scalars + cell spatial stats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spatial_scalars_cells_spatial_substrates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(39,)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Cells + substrate scalars + substrate spatial features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img_mc_cells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(3, 64, 64)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 cell type spatial density grid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img_mc_cells_substrates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(8, 64, 64)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Cell density grids + all 5 substrate concentration grids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34924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Scalar modes use MLP policy; image modes use IMPALA-style CNN.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Training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548639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314"/>
                <a:gridCol w="3135085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SAC (Soft Actor-Critic)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Total timesteps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500 000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Num parallel envs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Replay buffer size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300 000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Policy LR / Q LR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3e-4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Tau (soft update)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0.005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Entropy tuning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Automatic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Learning starts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5 000 steps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Test frequency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every 4 episodes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96012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Image-mode CNN (IMPALA-style)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8521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Conv(in→32, 8×8, stride 4) → Mish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Conv(32→64, 4×4, stride 2) → Mish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Conv(64→64, 3×3, stride 1) → Mish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Flatten → FC(256) → FC(256)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9184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Training: network-field generative process (Gaussian random field, ℓ = 45 µm, threshold 0.55)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Test (held-out): circular, rectangle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Default cells.csv: ~128 tumor, 32 T-cell, 16 macrophage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9.1 Spatial Layout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Training layouts are network-field; test layouts are held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lay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8865"/>
            <a:ext cx="11247120" cy="37117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Test layouts (rectangle, circular) are out-of-distribution: good generalisation requires policies that transfer without memorising training positions.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Aggregated Results — by Observation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Only complete runs (≥ 400 k steps); multiple seeds averaged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161287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7457"/>
                <a:gridCol w="829491"/>
                <a:gridCol w="1658982"/>
                <a:gridCol w="1658982"/>
                <a:gridCol w="1658982"/>
                <a:gridCol w="1658982"/>
              </a:tblGrid>
              <a:tr h="49149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 mean50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mean50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I2 — img_mc_cells_substrates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+77.2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+56.5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+97.9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I1 — img_mc_cells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+50.3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+5.0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S3 — spatial_scalars_cells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+51.2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+12.4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+112.7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+16.3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S4 — spatial_scalars_cells_substrates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+29.2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−22.1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−1.2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S5 — spatial_scalars_cells_spatial_substrates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+85.1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−37.6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S1 — scalars_cells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+17.6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−7.7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−20.5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S2 — scalars_cells_substrates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−16.8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+12.3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+40.2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−47.7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120640"/>
            <a:ext cx="116128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I2 (image + substrates) leads on every metric except Test Rect, where S3 is helped by a single lucky seed (#64).</a:t>
            </a:r>
          </a:p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I2 also has the lowest seed-to-seed variance — both highest mean and most reliable.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Per-Seed Breakdown — Image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I2 — img_mc_cells_substrates (6ch)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2588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499 356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+78.0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+58.2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+106.7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529 501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+79.7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+69.9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+61.4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410 875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+86.9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+47.7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+109.6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+33.7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499 977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+64.3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+42.3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+47.3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+128.9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499 914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+77.1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+56.1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+158.8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9144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I1 — img_mc_cells (3ch)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2588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499 884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+39.8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+22.4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−28.7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−28.1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526 602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+42.4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+27.8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−17.4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−43.9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499 769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+51.3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499 632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+67.5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+18.3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+44.2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+94.8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3931920"/>
            <a:ext cx="11704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S3 — spatial_scalars_cells (21d)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34340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499 976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+16.7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−28.9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+32.2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−81.3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499 996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+59.8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+27.3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+223.1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+91.1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+77.1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+38.8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+82.9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+39.2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9319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34340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I2 train50 in tight band [+64, +87] — most consistent mode.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I1 collapses on rect/circ for 3 of 4 seeds (overfits training layout).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S3 seed #64 (+223 rect) is an outlier, not a robust trend.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Per-Seed Breakdown — Scalar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S4 — spatial_scalars_cells_substrates (27d)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2588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499 981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−1.7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−7.2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−107.0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−57.7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499 951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−28.5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−5.4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−15.5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499 938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+91.5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+46.0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+46.0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+69.5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9144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S5 — spatial_scalars_cells_spatial_substrates (39d)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2588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+10.4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−67.5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499 979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−4.1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−0.1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+164.2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−7.6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32461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S1 — scalars_cells (3d)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65760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499 925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+37.2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+24.0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−1.5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−21.8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527 895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+6.2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+23.3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+30.3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+46.7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499 988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−20.3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−52.6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−33.1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499 938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+16.3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−6.9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−74.0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32461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S2 — scalars_cells_substrates (8d)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365760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960120"/>
                <a:gridCol w="960120"/>
                <a:gridCol w="960120"/>
                <a:gridCol w="9601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Train50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Test50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Rect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Circ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499 939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+26.8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+144.6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−0.6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528 409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−79.2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−24.6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−4.8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−90.8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+25.3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+18.8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+8.0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−44.4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499 959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−15.1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+28.1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+12.9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−54.8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7.1 Image-Based Modes Outperform Scalar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I2 (img_mc_cells_substrates) is the best across every metric: train +77.2, test +56.5 (&gt;2× the next mode).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Low seed variance: all I2 seeds land in [+64, +87] vs S4 ranging from −2.3 to +91.5.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I1 (img_mc_cells) performs well on training (+50.3) but collapses on held-out test layouts — no substrate channels means no info to generalise.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Adding substrate channels (I1 → I2) gains +27 train, +36 test — substrate visibility closes the credit-assignment loop.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All scalar modes (S1–S5) plateau below +35 on training. None matches even I1's training mean.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7.3–7.4  More Features ≠ Better  •  Seed Sensitivity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Calibri"/>
              </a:rPr>
              <a:t>Scalar complexity vs train return (counter-intuitive)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S1 (3d)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S2 (8d)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S3 (21d)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S4 (27d)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S5 (39d)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+5.9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−16.8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+51.2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+29.2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+3.2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Calibri"/>
              </a:rPr>
              <a:t>Seed-to-seed standard deviation of train_return_mean50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15468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/>
                <a:gridCol w="24384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Std across seeds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img_mc_cells_substrates  (I2)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~8.5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img_mc_cells  (I1)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~11.3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spatial_scalars_cells  (S3)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~25.8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scalars_cells  (S1)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~22.0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scalars_cells_substrates  (S2)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~38.3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46720" y="3154680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Adding substrate scalars hurts: noise dominates the signal.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S5 (39d) underperforms S3 (21d) — the MLP cannot exploit the bigger scalar vector in 500k steps.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Image modes are 3–4× more stable across seeds — CNN inductive bias matches the physical TME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 Episode Comparison — run_000143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Same matched episode across I2, I1, S3 (best three modes)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pis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13" y="914400"/>
            <a:ext cx="5190094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9144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Episode statistics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21040" y="1325880"/>
          <a:ext cx="3657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812800"/>
                <a:gridCol w="812800"/>
                <a:gridCol w="81280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I2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I1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Final tumor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Cum. return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+175.1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−7.4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+106.3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Cum. dose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35.42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12.16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31.05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Peak dose/step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0.813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0.451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0.484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5760720"/>
            <a:ext cx="3657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I2 reaches near-eradication;</a:t>
            </a:r>
          </a:p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I1 under-medicates;</a:t>
            </a:r>
          </a:p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S3 stalls before final push.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10.2 run_000143 — Why I2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Cumulative return — I2 climbs steadily to +175 (near-eradication); S3 reaches +106 then flattens at 14 tumor cells; I1 dips negative and ends with 112 cells (≈ untreated).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Cumulative dose — I2 and S3 both apply ~31–35 units; I1 under-medicates at 12. Without substrate feedback, I1 can't tell if a dose worked, so it converges to a conservative low-dose policy.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Dose per step — I2 shows pronounced late-episode spikes (steps 300–480), driving the final push to eradication. S3 distributes dosing more evenly without substrate-guided targeting.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Substrate channels close the feedback loop: I2 observes pro/anti tumoral factor maps → knows if macrophages were re-polarised; I1 has only cell counts (too noisy for credit assignment).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Spatial targeting requires spatial state. I2 sees WHERE factors concentrate → can place drug at the immunosuppressive zone. S3 has cell centroids but no substrate coupling.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11. Episode Comparison — run_000147 (seed 128)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A harder episode: all three agents face tumor rebound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pisode_comparis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506" y="914400"/>
            <a:ext cx="5172908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9144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Episode statistics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21040" y="1325880"/>
          <a:ext cx="365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812800"/>
                <a:gridCol w="812800"/>
                <a:gridCol w="812800"/>
              </a:tblGrid>
              <a:tr h="762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I2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I1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Final tumor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Cum. return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+53.4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+35.0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+32.3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Peak return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+63.1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+58.2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+66.6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Cum. dose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35.69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7.16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34.92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Peak dose/step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0.834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0.563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0.496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5943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I2 still leads despite tumor rebound.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11.2–11.3  run_000147 — Rebound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All three agents build positive return through step ~330, then the slope flattens or turns negative — the tumor rebounds after initial suppression.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I2 maintains the lead and declines least after peak (+63.1 → +53.4). S3 peaks highest (+66.6) but loses control fastest (→ +32.3).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I1 again under-medicates (7.2 vs ~35 units for I2/S3) — no substrate feedback ⇒ conservative dosing.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Equal cumulative dose (I2 vs S3) but better outcome for I2 ⇒ WHERE the drug goes matters as much as HOW MUCH.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latin typeface="Calibri"/>
              </a:rPr>
              <a:t>run_000143 vs run_000147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51960"/>
          <a:ext cx="112471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4089861"/>
                <a:gridCol w="4089861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run_000143 (seed 64)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run_000147 (seed 128)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I2 final tumor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 (near-eradication)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31 (rebound)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I2 cumulative return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+175.1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+53.4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I1 final tumor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S3 final tumor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Return rollback?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12.1 What the I2 Agent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8-channel observation at six time steps of one episode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bservati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02" y="960120"/>
            <a:ext cx="2786916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6576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Step 0</a:t>
            </a:r>
          </a:p>
        </p:txBody>
      </p:sp>
      <p:pic>
        <p:nvPicPr>
          <p:cNvPr id="8" name="Picture 7" descr="observation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742" y="960120"/>
            <a:ext cx="2786916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51960" y="36576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Step 20</a:t>
            </a:r>
          </a:p>
        </p:txBody>
      </p:sp>
      <p:pic>
        <p:nvPicPr>
          <p:cNvPr id="10" name="Picture 9" descr="observation_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661" y="960120"/>
            <a:ext cx="2786916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36576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Step 40</a:t>
            </a:r>
          </a:p>
        </p:txBody>
      </p:sp>
      <p:pic>
        <p:nvPicPr>
          <p:cNvPr id="12" name="Picture 11" descr="observation_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102" y="3794760"/>
            <a:ext cx="2786916" cy="274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4922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Step 60</a:t>
            </a:r>
          </a:p>
        </p:txBody>
      </p:sp>
      <p:pic>
        <p:nvPicPr>
          <p:cNvPr id="14" name="Picture 13" descr="observation_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8742" y="3794760"/>
            <a:ext cx="2786916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51960" y="64922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Step 80</a:t>
            </a:r>
          </a:p>
        </p:txBody>
      </p:sp>
      <p:pic>
        <p:nvPicPr>
          <p:cNvPr id="16" name="Picture 15" descr="observation_1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661" y="3794760"/>
            <a:ext cx="2786916" cy="274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64922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Step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CH 0–2: tumor / T-cell / macrophage density  •  CH 3–7: anti_tumoral, pro_tumoral, drug_1, tumor_molecule, cytokine (all 5 substrates included)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12.1 What Each State Space Actually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4838700"/>
                <a:gridCol w="3870960"/>
              </a:tblGrid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State space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agent sees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is missing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I2 — img_mc_cells_substrates (8ch, 64×64)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All 3 cell types + all 5 substrate maps (anti/pro tumoral, drug_1, tumor_molecule, cytokine)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Nothing — full spatial 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I1 — img_mc_cells (3ch, 64×64)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Spatial layout of tumor, T-cell, macrophage only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All substrate maps — no drug/immune feedback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S3 — spatial_scalars_cells (21-dim)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 cell type: presence, x/y mean &amp; std, dist_to_center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All substrate information; only centroid/spread of cells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S1 — scalars_cells (3-dim)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Normalised alive count per cell type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Spatial structure, substrate gradients — minimal signal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760720"/>
            <a:ext cx="11612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CH 4 (pro_tumoral_factor) shows the immunosuppressive zone — precisely where the drug must go to repolarise macrophages.</a:t>
            </a:r>
          </a:p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Without this channel, the agent cannot close the dose → polarisation feedback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12.2 Training Return — All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charts/train_return_mean50, smoothed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tion-2-Panel-3-uwnnqvhk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30035"/>
            <a:ext cx="7772400" cy="4872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0972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I2 (red dashed) separates from all others after ~50 k steps.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Reaches ~75–80 by 500 k steps.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I1 (dark green) converges to ~47.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All scalar modes plateau below 35.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S3 (blue) is the most stable scalar.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S4/S5 do not beat S3 despite higher dim.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12.2 Training Return Std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Higher std = wider behavioural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tion-2-Panel-2-g0ddriu6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1" y="914400"/>
            <a:ext cx="7524758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0972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I2 and I1 keep std ~60–65 throughout.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Reflects diverse outcomes per episode — some near-eradication, some rebound.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Scalar modes decay to low std — policies converge to a narrow, less ambitious behaviour.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12.2 Test Return — Held-out Layouts (raw)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Left: rectangle  •  Right: circular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tion-2-Panel-0-t6c8f8ad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66081"/>
            <a:ext cx="5943600" cy="3725838"/>
          </a:xfrm>
          <a:prstGeom prst="rect">
            <a:avLst/>
          </a:prstGeom>
        </p:spPr>
      </p:pic>
      <p:pic>
        <p:nvPicPr>
          <p:cNvPr id="7" name="Picture 6" descr="Section-2-Panel-1-v5gma8p0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97713"/>
            <a:ext cx="5943600" cy="32625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I2 leads with the highest and most consistent test returns; I1 is volatile; scalar modes cluster near zero. Circular is harder than rectangle.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12.2 Test Return — Smoothed and Std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Left: test_return_mean50  •  Right: test_return_std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tion-2-Panel-6-42sh5v4h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66081"/>
            <a:ext cx="5943600" cy="3725838"/>
          </a:xfrm>
          <a:prstGeom prst="rect">
            <a:avLst/>
          </a:prstGeom>
        </p:spPr>
      </p:pic>
      <p:pic>
        <p:nvPicPr>
          <p:cNvPr id="7" name="Picture 6" descr="Section-2-Panel-4-q55wfb7f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97713"/>
            <a:ext cx="5943600" cy="32625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I2 climbs to ~55–60 on test mean50. High I2 test std is capability (near-eradication bursts), not instability — scalar modes converge to low, predictable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Summary of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77419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Conclusion</a:t>
                      </a:r>
                    </a:p>
                  </a:txBody>
                  <a:tcPr marL="54864" marR="54864" marT="18288" marB="18288">
                    <a:solidFill>
                      <a:srgbClr val="1F3A6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Best overall state space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img_mc_cells_substrates  (6-ch image, 64×64)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Best scalar state space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spatial_scalars_cells  (21d) — but high variance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Worst state spaces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Pure global scalars: scalars_cells, scalars_cells_substrates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Image vs scalar gap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+71 pts on train_mean50 (I2 vs S1); +39 pts on test_mean50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Substrate info impact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Critical: I2 &gt; I1 by +27 train, +36 test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Spatial features value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Helpful in training (S3 &gt; S1), inconsistent on test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More is not always better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S5 (39d) ≈ S1 (3d) due to optimisation difficulty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Seed robustness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Image modes ~3–4× more consistent than scalar modes</a:t>
                      </a:r>
                    </a:p>
                  </a:txBody>
                  <a:tcPr marL="54864" marR="54864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Default state representation for the PhysiCell TME task: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img_mc_cells_substrates  (I2)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Calibri"/>
              </a:rPr>
              <a:t>Provides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Full spatial layout of all cell types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Full spatial layout of microenvironmental substrates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Consistent performance across seeds (std ~8.5)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Strong generalisation to unseen layouts (circular, rectangle)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Fallback when compute is constrained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spatial_scalars_cells (S3) is the best scalar alternative — but needs more seeds for reliable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SAC-TME State Space Comparison  •  PhysiCell TME with T-cells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