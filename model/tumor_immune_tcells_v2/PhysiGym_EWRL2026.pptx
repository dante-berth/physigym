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8.png"/><Relationship Id="rId5" Type="http://schemas.microsoft.com/office/2007/relationships/media" Target="../media/media2.mp4"/><Relationship Id="rId6" Type="http://schemas.openxmlformats.org/officeDocument/2006/relationships/video" Target="../media/media2.mp4"/><Relationship Id="rId7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31720"/>
            <a:ext cx="12191695" cy="50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5400" b="1" i="0">
                <a:solidFill>
                  <a:srgbClr val="FFFFFF"/>
                </a:solidFill>
                <a:latin typeface="Calibri"/>
              </a:rPr>
              <a:t>PhysiGym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600" b="1" i="0">
                <a:solidFill>
                  <a:srgbClr val="D6DBE3"/>
                </a:solidFill>
                <a:latin typeface="Calibri"/>
              </a:rPr>
              <a:t>Bridging Agent-Based Biological Simulation and Reinforcement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14600"/>
            <a:ext cx="107286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1">
                <a:solidFill>
                  <a:srgbClr val="2E86C1"/>
                </a:solidFill>
                <a:latin typeface="Calibri"/>
              </a:rPr>
              <a:t>A State-Space Study on Tumor Microenvironment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72865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C8CFDA"/>
                </a:solidFill>
                <a:latin typeface="Calibri"/>
              </a:rPr>
              <a:t>Alexandre Bertin·  Elmar Bucher·  Owen Griere  ·  Marcelo Hurtado  ·  Heber Rocha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C8CFDA"/>
                </a:solidFill>
                <a:latin typeface="Calibri"/>
              </a:rPr>
              <a:t>Randy Heiland  ·  Paul Macklin  ·  Vincent François-Lavet  ·  Emmanuel Rachelson  ·  Vera Pancaldi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80560"/>
            <a:ext cx="10728655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5D6D7E"/>
                </a:solidFill>
                <a:latin typeface="Calibri"/>
              </a:rPr>
              <a:t>CRCT Toulouse  ·  ISAE-Supaéro  ·  Indiana University  ·  VU Amsterdam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C0392B"/>
                </a:solidFill>
                <a:latin typeface="Calibri"/>
              </a:rPr>
              <a:t>EWRL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1072865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2E86C1"/>
                </a:solidFill>
                <a:latin typeface="Calibri"/>
              </a:rPr>
              <a:t>Open source:  https://anonymous.4open.science/r/PhysiGym-76A7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58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C0392B"/>
                </a:solidFill>
                <a:latin typeface="Calibri"/>
              </a:rPr>
              <a:t>MOTIVATION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Why connect biological simulation to RL?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64592" cy="1645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17320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1A233B"/>
                </a:solidFill>
                <a:latin typeface="Calibri"/>
              </a:rPr>
              <a:t>Agent-based models (ABMs) </a:t>
            </a:r>
            <a:r>
              <a:rPr sz="1700" b="0" i="0">
                <a:solidFill>
                  <a:srgbClr val="333A44"/>
                </a:solidFill>
                <a:latin typeface="Calibri"/>
              </a:rPr>
              <a:t>simulate biological systems where cells interact dynamically by rules — capturing spatial &amp; cellular heterogeneity that ODEs cannot.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395728"/>
            <a:ext cx="164592" cy="1645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1A233B"/>
                </a:solidFill>
                <a:latin typeface="Calibri"/>
              </a:rPr>
              <a:t>Dynamic treatment regimes </a:t>
            </a:r>
            <a:r>
              <a:rPr sz="1700" b="0" i="0">
                <a:solidFill>
                  <a:srgbClr val="333A44"/>
                </a:solidFill>
                <a:latin typeface="Calibri"/>
              </a:rPr>
              <a:t>(adaptive, sequential interventions) need more than simulation — they need a control framework.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310128"/>
            <a:ext cx="164592" cy="1645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246120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1A233B"/>
                </a:solidFill>
                <a:latin typeface="Calibri"/>
              </a:rPr>
              <a:t>Reinforcement learning </a:t>
            </a:r>
            <a:r>
              <a:rPr sz="1700" b="0" i="0">
                <a:solidFill>
                  <a:srgbClr val="333A44"/>
                </a:solidFill>
                <a:latin typeface="Calibri"/>
              </a:rPr>
              <a:t>learns policies through interaction — a natural fit for adaptive control of biological simulations.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224528"/>
            <a:ext cx="164592" cy="1645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60520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1A233B"/>
                </a:solidFill>
                <a:latin typeface="Calibri"/>
              </a:rPr>
              <a:t>The missing piece: </a:t>
            </a:r>
            <a:r>
              <a:rPr sz="1700" b="0" i="0">
                <a:solidFill>
                  <a:srgbClr val="333A44"/>
                </a:solidFill>
                <a:latin typeface="Calibri"/>
              </a:rPr>
              <a:t>a standardized interface between a high-fidelity ABM and a modern RL API.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715000"/>
            <a:ext cx="10881360" cy="777240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760720"/>
            <a:ext cx="104241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1A233B"/>
                </a:solidFill>
                <a:latin typeface="Calibri"/>
              </a:rPr>
              <a:t>We introduce </a:t>
            </a:r>
            <a:r>
              <a:rPr sz="1600" b="1" i="0">
                <a:solidFill>
                  <a:srgbClr val="C0392B"/>
                </a:solidFill>
                <a:latin typeface="Calibri"/>
              </a:rPr>
              <a:t>PhysiGym</a:t>
            </a:r>
            <a:r>
              <a:rPr sz="1600" b="0" i="0">
                <a:solidFill>
                  <a:srgbClr val="1A233B"/>
                </a:solidFill>
                <a:latin typeface="Calibri"/>
              </a:rPr>
              <a:t>: it bridges PhysiCell (ABM) and Gymnasium (RL), turning any PhysiCell model into an RL environment with minimal code changes.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5D6D7E"/>
                </a:solidFill>
                <a:latin typeface="Calibri"/>
              </a:rPr>
              <a:t>PhysiGym  Bridging Agent-Based Biological Simulation and RL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5D6D7E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58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C0392B"/>
                </a:solidFill>
                <a:latin typeface="Calibri"/>
              </a:rPr>
              <a:t>FRAMEWORK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PhysiGym: design &amp;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A233B"/>
                </a:solidFill>
                <a:latin typeface="Calibri"/>
              </a:rPr>
              <a:t>PhysiCell  +  Gymnasium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486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 i="0">
                <a:solidFill>
                  <a:srgbClr val="2E86C1"/>
                </a:solidFill>
                <a:latin typeface="Calibri"/>
              </a:rPr>
              <a:t>PhysiCell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i="0">
                <a:solidFill>
                  <a:srgbClr val="333A44"/>
                </a:solidFill>
                <a:latin typeface="Calibri"/>
              </a:rPr>
              <a:t>Open-source C++ ABM framework. Cells = agents with type-specific rules; substrates (oxygen, cytokines) diffuse via the BioFVM solver. 2D/3D, off-lattice, multiscale.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5486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 i="0">
                <a:solidFill>
                  <a:srgbClr val="2E86C1"/>
                </a:solidFill>
                <a:latin typeface="Calibri"/>
              </a:rPr>
              <a:t>Gymnasium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i="0">
                <a:solidFill>
                  <a:srgbClr val="333A44"/>
                </a:solidFill>
                <a:latin typeface="Calibri"/>
              </a:rPr>
              <a:t>Standard Python interface for MDPs (state S, action A, transition T, reward R). Promotes modular, reusable RL code.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325880"/>
            <a:ext cx="5257800" cy="4846320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46304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1A233B"/>
                </a:solidFill>
                <a:latin typeface="Calibri"/>
              </a:rPr>
              <a:t>How the bridge works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2020824"/>
            <a:ext cx="118872" cy="11887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965960"/>
            <a:ext cx="45720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2B323C"/>
                </a:solidFill>
                <a:latin typeface="Calibri"/>
              </a:rPr>
              <a:t>Splits the C++ simulation loop into 3 Python-callable hooks: physicell_start, physicell_step, physicell_stop.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2862072"/>
            <a:ext cx="118872" cy="11887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2807208"/>
            <a:ext cx="45720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2B323C"/>
                </a:solidFill>
                <a:latin typeface="Calibri"/>
              </a:rPr>
              <a:t>Three read functions return state: get_cell (positions), get_microenv (substrate fields), get_graph (neighbourhoods).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3703320"/>
            <a:ext cx="118872" cy="11887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3648456"/>
            <a:ext cx="45720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2B323C"/>
                </a:solidFill>
                <a:latin typeface="Calibri"/>
              </a:rPr>
              <a:t>Configured via PhysiCell user parameters &amp; custom data — no recompilation; works with PhysiCell Studio.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4544568"/>
            <a:ext cx="118872" cy="11887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4489704"/>
            <a:ext cx="45720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2B323C"/>
                </a:solidFill>
                <a:latin typeface="Calibri"/>
              </a:rPr>
              <a:t>Subclass CorePhysiCellEnv to define observation space, action space &amp; reward. The base class handles all Gym bookkeeping.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5385816"/>
            <a:ext cx="118872" cy="11887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5330952"/>
            <a:ext cx="45720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2B323C"/>
                </a:solidFill>
                <a:latin typeface="Calibri"/>
              </a:rPr>
              <a:t>Tested on Linux, WSL, macOS with CI via GitHub Actions.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5D6D7E"/>
                </a:solidFill>
                <a:latin typeface="Calibri"/>
              </a:rPr>
              <a:t>PhysiGym  Bridging Agent-Based Biological Simulation and RL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5D6D7E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58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C0392B"/>
                </a:solidFill>
                <a:latin typeface="Calibri"/>
              </a:rPr>
              <a:t>CASE STUDY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A tumor microenvironment (TME) toy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A233B"/>
                </a:solidFill>
                <a:latin typeface="Calibri"/>
              </a:rPr>
              <a:t>Small, cheap, but spatially explicit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4800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 i="0">
                <a:solidFill>
                  <a:srgbClr val="333A44"/>
                </a:solidFill>
                <a:latin typeface="Calibri"/>
              </a:rPr>
              <a:t>64×64 µm 2D domain · 3 cell types · 5 substrates. Gym step Δt = 15 min, episodes up to 10,080 min (7 days).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834640"/>
            <a:ext cx="109728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834640"/>
            <a:ext cx="4572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50" b="1" i="0">
                <a:solidFill>
                  <a:srgbClr val="C0392B"/>
                </a:solidFill>
                <a:latin typeface="Calibri"/>
              </a:rPr>
              <a:t>Tumor cells (Target)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00" b="0" i="0">
                <a:solidFill>
                  <a:srgbClr val="333A44"/>
                </a:solidFill>
                <a:latin typeface="Calibri"/>
              </a:rPr>
              <a:t>Immobile, dividing. Secrete a signal that suppresses local immunity.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749040"/>
            <a:ext cx="109728" cy="77724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4572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50" b="1" i="0">
                <a:solidFill>
                  <a:srgbClr val="E67E22"/>
                </a:solidFill>
                <a:latin typeface="Calibri"/>
              </a:rPr>
              <a:t>Macrophages (Mediators)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00" b="0" i="0">
                <a:solidFill>
                  <a:srgbClr val="333A44"/>
                </a:solidFill>
                <a:latin typeface="Calibri"/>
              </a:rPr>
              <a:t>Mobile. Tumor signal “hijacks” them: anti- → pro-tumoral.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663440"/>
            <a:ext cx="109728" cy="7772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4572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50" b="1" i="0">
                <a:solidFill>
                  <a:srgbClr val="2E86C1"/>
                </a:solidFill>
                <a:latin typeface="Calibri"/>
              </a:rPr>
              <a:t>T-cells (Effectors)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00" b="0" i="0">
                <a:solidFill>
                  <a:srgbClr val="333A44"/>
                </a:solidFill>
                <a:latin typeface="Calibri"/>
              </a:rPr>
              <a:t>Mobile, can trigger tumor apoptosis — but repelled by pro-tumoral macrophages.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715000"/>
            <a:ext cx="4983480" cy="777240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760720"/>
            <a:ext cx="4663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C0392B"/>
                </a:solidFill>
                <a:latin typeface="Calibri"/>
              </a:rPr>
              <a:t>The control challenge: </a:t>
            </a:r>
            <a:r>
              <a:rPr sz="1250" b="0" i="0">
                <a:solidFill>
                  <a:srgbClr val="1A233B"/>
                </a:solidFill>
                <a:latin typeface="Calibri"/>
              </a:rPr>
              <a:t>drug_1 has zero direct cytotoxicity — the agent must re-program macrophages to clear a path for T-cells.</a:t>
            </a:r>
          </a:p>
        </p:txBody>
      </p:sp>
      <p:pic>
        <p:nvPicPr>
          <p:cNvPr id="15" name="Picture 14" descr="fig_tm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2689564"/>
            <a:ext cx="5943600" cy="193607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60720" y="598932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00" b="0" i="1">
                <a:solidFill>
                  <a:srgbClr val="5D6D7E"/>
                </a:solidFill>
                <a:latin typeface="Calibri"/>
              </a:rPr>
              <a:t>TME signalling network — green = activate/attract, red = suppress/repel, dashed = drug intervention.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5D6D7E"/>
                </a:solidFill>
                <a:latin typeface="Calibri"/>
              </a:rPr>
              <a:t>PhysiGym  Bridging Agent-Based Biological Simulation and RL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5D6D7E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58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C0392B"/>
                </a:solidFill>
                <a:latin typeface="Calibri"/>
              </a:rPr>
              <a:t>RL FORMULATION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Action, reward &amp; the question we study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394960" cy="1828800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49377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2E86C1"/>
                </a:solidFill>
                <a:latin typeface="Calibri"/>
              </a:rPr>
              <a:t>Action space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A233B"/>
                </a:solidFill>
                <a:latin typeface="Calibri"/>
              </a:rPr>
              <a:t>aₜ = (dose, x, y, r)  ∈  [0,1]⁴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333A44"/>
                </a:solidFill>
                <a:latin typeface="Calibri"/>
              </a:rPr>
              <a:t>dose = drug concentration applied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333A44"/>
                </a:solidFill>
                <a:latin typeface="Calibri"/>
              </a:rPr>
              <a:t>(x, y) = injection centre (normalised)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333A44"/>
                </a:solidFill>
                <a:latin typeface="Calibri"/>
              </a:rPr>
              <a:t>r = injection radius (norm. by diagonal)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371600"/>
            <a:ext cx="5394960" cy="1828800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508760"/>
            <a:ext cx="49377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2E86C1"/>
                </a:solidFill>
                <a:latin typeface="Calibri"/>
              </a:rPr>
              <a:t>Reward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A233B"/>
                </a:solidFill>
                <a:latin typeface="Calibri"/>
              </a:rPr>
              <a:t>rₜ = w_cell · (cₜ₋₁−cₜ)/[cₜ₋₁(e^{λΔt}−1)]  −  dₜ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333A44"/>
                </a:solidFill>
                <a:latin typeface="Calibri"/>
              </a:rPr>
              <a:t>Normalised tumor-suppression signal minus a drug-cost penalty.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333A44"/>
                </a:solidFill>
                <a:latin typeface="Calibri"/>
              </a:rPr>
              <a:t>w_cell = 0.3 ;  dₜ = normalised dose spent.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429000"/>
            <a:ext cx="11064240" cy="1051560"/>
          </a:xfrm>
          <a:prstGeom prst="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520440"/>
            <a:ext cx="10515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Objective: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  eradicate the tumor while minimizing drug exposure.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The research question: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  among the observation spaces PhysiGym can expose, which help the agent learn &amp; generalize?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7091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A233B"/>
                </a:solidFill>
                <a:latin typeface="Calibri"/>
              </a:rPr>
              <a:t>Train on a network-field distribution; test out-of-distribution on two held-out layouts:</a:t>
            </a:r>
          </a:p>
        </p:txBody>
      </p:sp>
      <p:pic>
        <p:nvPicPr>
          <p:cNvPr id="12" name="Picture 11" descr="ic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8780" y="5074920"/>
            <a:ext cx="3383959" cy="1417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5D6D7E"/>
                </a:solidFill>
                <a:latin typeface="Calibri"/>
              </a:rPr>
              <a:t>PhysiGym  Bridging Agent-Based Biological Simulation and RL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5D6D7E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58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C0392B"/>
                </a:solidFill>
                <a:latin typeface="Calibri"/>
              </a:rPr>
              <a:t>FORMULATION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control problem as an MDP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1">
                <a:solidFill>
                  <a:srgbClr val="5D6D7E"/>
                </a:solidFill>
                <a:latin typeface="Calibri"/>
              </a:rPr>
              <a:t>PhysiGym exposes the PhysiCell simulation as a Markov Decision Process — the SAC agent acts, the TME transitions, and a reward is returned each step.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2148840"/>
            <a:ext cx="3931920" cy="1143000"/>
          </a:xfrm>
          <a:prstGeom prst="round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AGENT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SAC policy  π(a | 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4526280"/>
            <a:ext cx="3931920" cy="1325880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ENVIRONMENT</a:t>
            </a:r>
          </a:p>
          <a:p>
            <a:pPr algn="ctr"/>
            <a:r>
              <a:rPr sz="1300" b="0">
                <a:solidFill>
                  <a:srgbClr val="C8CFDA"/>
                </a:solidFill>
                <a:latin typeface="Calibri"/>
              </a:rPr>
              <a:t>PhysiCell TME  ·  3 cell types · 5 substrates</a:t>
            </a:r>
          </a:p>
          <a:p>
            <a:pPr algn="ctr"/>
            <a:r>
              <a:rPr sz="1200" b="0">
                <a:solidFill>
                  <a:srgbClr val="C8CFDA"/>
                </a:solidFill>
                <a:latin typeface="Calibri"/>
              </a:rPr>
              <a:t>transition T,  reward 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183879" y="2697480"/>
            <a:ext cx="1874521" cy="0"/>
          </a:xfrm>
          <a:prstGeom prst="line">
            <a:avLst/>
          </a:prstGeom>
          <a:ln w="38100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058400" y="2697480"/>
            <a:ext cx="0" cy="2468880"/>
          </a:xfrm>
          <a:prstGeom prst="line">
            <a:avLst/>
          </a:prstGeom>
          <a:ln w="38100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8183879" y="5166360"/>
            <a:ext cx="1874521" cy="0"/>
          </a:xfrm>
          <a:prstGeom prst="line">
            <a:avLst/>
          </a:prstGeom>
          <a:ln w="38100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321040" y="3246120"/>
            <a:ext cx="2743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600" b="1" i="0">
                <a:solidFill>
                  <a:srgbClr val="C0392B"/>
                </a:solidFill>
                <a:latin typeface="Calibri"/>
              </a:rPr>
              <a:t>action  aₜ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50" b="0" i="0">
                <a:solidFill>
                  <a:srgbClr val="333A44"/>
                </a:solidFill>
                <a:latin typeface="Calibri"/>
              </a:rPr>
              <a:t>(dose, x, y, r) ∈ [0,1]⁴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0" i="0">
                <a:solidFill>
                  <a:srgbClr val="5D6D7E"/>
                </a:solidFill>
                <a:latin typeface="Calibri"/>
              </a:rPr>
              <a:t>localized drug_1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103120" y="5166360"/>
            <a:ext cx="1874519" cy="0"/>
          </a:xfrm>
          <a:prstGeom prst="line">
            <a:avLst/>
          </a:prstGeom>
          <a:ln w="38100">
            <a:solidFill>
              <a:srgbClr val="2E86C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103120" y="2697480"/>
            <a:ext cx="0" cy="2468880"/>
          </a:xfrm>
          <a:prstGeom prst="line">
            <a:avLst/>
          </a:prstGeom>
          <a:ln w="38100">
            <a:solidFill>
              <a:srgbClr val="2E86C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103120" y="2697480"/>
            <a:ext cx="1874519" cy="0"/>
          </a:xfrm>
          <a:prstGeom prst="line">
            <a:avLst/>
          </a:prstGeom>
          <a:ln w="38100">
            <a:solidFill>
              <a:srgbClr val="2E86C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97280" y="3246120"/>
            <a:ext cx="2743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600" b="1" i="0">
                <a:solidFill>
                  <a:srgbClr val="2E86C1"/>
                </a:solidFill>
                <a:latin typeface="Calibri"/>
              </a:rPr>
              <a:t>state  sₜ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0" i="0">
                <a:solidFill>
                  <a:srgbClr val="333A44"/>
                </a:solidFill>
                <a:latin typeface="Calibri"/>
              </a:rPr>
              <a:t>scalars / images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600" b="1" i="0">
                <a:solidFill>
                  <a:srgbClr val="27AE60"/>
                </a:solidFill>
                <a:latin typeface="Calibri"/>
              </a:rPr>
              <a:t>reward  rₜ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5D6D7E"/>
                </a:solidFill>
                <a:latin typeface="Calibri"/>
              </a:rPr>
              <a:t>tumor suppression − dose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144768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A233B"/>
                </a:solidFill>
                <a:latin typeface="Calibri"/>
              </a:rPr>
              <a:t>Objective:   </a:t>
            </a:r>
            <a:r>
              <a:rPr sz="1400" b="0" i="0">
                <a:solidFill>
                  <a:srgbClr val="333A44"/>
                </a:solidFill>
                <a:latin typeface="Calibri"/>
              </a:rPr>
              <a:t>maximise  𝔼[ Σ γᵗ rₜ ]  — eradicate the tumor while minimizing drug exposure.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5D6D7E"/>
                </a:solidFill>
                <a:latin typeface="Calibri"/>
              </a:rPr>
              <a:t>PhysiGym  Bridging Agent-Based Biological Simulation and RL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5D6D7E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58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C0392B"/>
                </a:solidFill>
                <a:latin typeface="Calibri"/>
              </a:rPr>
              <a:t>STATE SPACE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Six observation spaces compared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1">
                <a:solidFill>
                  <a:srgbClr val="5D6D7E"/>
                </a:solidFill>
                <a:latin typeface="Calibri"/>
              </a:rPr>
              <a:t>From global scalars to full multi-channel spatial images  (N_c = 3 cell types, N_s = 5 substrates)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2E86C1"/>
                </a:solidFill>
                <a:latin typeface="Calibri"/>
              </a:rPr>
              <a:t>Scalar observations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830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C0392B"/>
                </a:solidFill>
                <a:latin typeface="Calibri"/>
              </a:rPr>
              <a:t>Image observations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5486400" cy="841248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95144"/>
            <a:ext cx="5212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50" b="1" i="0">
                <a:solidFill>
                  <a:srgbClr val="1A233B"/>
                </a:solidFill>
                <a:latin typeface="Calibri"/>
              </a:rPr>
              <a:t>S1  Normalised cell count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00" b="0" i="0">
                <a:solidFill>
                  <a:srgbClr val="333A44"/>
                </a:solidFill>
                <a:latin typeface="Calibri"/>
              </a:rPr>
              <a:t>Alive count per type vs. initial.   ℝ^Nc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54680"/>
            <a:ext cx="5486400" cy="841248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209544"/>
            <a:ext cx="5212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50" b="1" i="0">
                <a:solidFill>
                  <a:srgbClr val="1A233B"/>
                </a:solidFill>
                <a:latin typeface="Calibri"/>
              </a:rPr>
              <a:t>S2  Cells + substrate maxima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00" b="0" i="0">
                <a:solidFill>
                  <a:srgbClr val="333A44"/>
                </a:solidFill>
                <a:latin typeface="Calibri"/>
              </a:rPr>
              <a:t>S1 + max concentration per substrate.   ℝ^(Nc+Ns)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069080"/>
            <a:ext cx="5486400" cy="841248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123944"/>
            <a:ext cx="5212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50" b="1" i="0">
                <a:solidFill>
                  <a:srgbClr val="1A233B"/>
                </a:solidFill>
                <a:latin typeface="Calibri"/>
              </a:rPr>
              <a:t>S3  Per-type spatial statistics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00" b="0" i="0">
                <a:solidFill>
                  <a:srgbClr val="333A44"/>
                </a:solidFill>
                <a:latin typeface="Calibri"/>
              </a:rPr>
              <a:t>S1 + 6 spatial stats per cell type.   ℝ^7Nc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983480"/>
            <a:ext cx="5486400" cy="841248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038344"/>
            <a:ext cx="5212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50" b="1" i="0">
                <a:solidFill>
                  <a:srgbClr val="1A233B"/>
                </a:solidFill>
                <a:latin typeface="Calibri"/>
              </a:rPr>
              <a:t>S5  Global spatial statistics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00" b="0" i="0">
                <a:solidFill>
                  <a:srgbClr val="333A44"/>
                </a:solidFill>
                <a:latin typeface="Calibri"/>
              </a:rPr>
              <a:t>S3 + 6 global stats per substrate.   ℝ^(7Nc+6Ns)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240280"/>
            <a:ext cx="5212080" cy="1325880"/>
          </a:xfrm>
          <a:prstGeom prst="rect">
            <a:avLst/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313432"/>
            <a:ext cx="49377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C0392B"/>
                </a:solidFill>
                <a:latin typeface="Calibri"/>
              </a:rPr>
              <a:t>I1  Cell types only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 i="0">
                <a:solidFill>
                  <a:srgbClr val="333A44"/>
                </a:solidFill>
                <a:latin typeface="Calibri"/>
              </a:rPr>
              <a:t>One channel per cell type.   ℝ^(Nc×64×64)  uint8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3703320"/>
            <a:ext cx="5212080" cy="1325880"/>
          </a:xfrm>
          <a:prstGeom prst="rect">
            <a:avLst/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776472"/>
            <a:ext cx="49377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C0392B"/>
                </a:solidFill>
                <a:latin typeface="Calibri"/>
              </a:rPr>
              <a:t>I2  Cells + substrates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 i="0">
                <a:solidFill>
                  <a:srgbClr val="333A44"/>
                </a:solidFill>
                <a:latin typeface="Calibri"/>
              </a:rPr>
              <a:t>I1 + all 5 substrate maps. Spatial feedback on drug &amp; macrophage polarisation.   ℝ^((Nc+Ns)×64×64)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5166360"/>
            <a:ext cx="5212080" cy="1143000"/>
          </a:xfrm>
          <a:prstGeom prst="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5230368"/>
            <a:ext cx="49377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C0392B"/>
                </a:solidFill>
                <a:latin typeface="Calibri"/>
              </a:rPr>
              <a:t>Why substrate maps matter: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the indirect drug needs multi-step credit assignment. Only per-pixel substrate channels make polarisation state &amp; drug distribution spatially legible.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5D6D7E"/>
                </a:solidFill>
                <a:latin typeface="Calibri"/>
              </a:rPr>
              <a:t>PhysiGym  Bridging Agent-Based Biological Simulation and RL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5D6D7E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58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C0392B"/>
                </a:solidFill>
                <a:latin typeface="Calibri"/>
              </a:rPr>
              <a:t>STATE SPACE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What the agent sees: the I2 observation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4846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1A233B"/>
                </a:solidFill>
                <a:latin typeface="Calibri"/>
              </a:rPr>
              <a:t>A single I2 observation = 8 stacked 64×64 channels.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109728" cy="86868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00" b="1" i="0">
                <a:solidFill>
                  <a:srgbClr val="2E86C1"/>
                </a:solidFill>
                <a:latin typeface="Calibri"/>
              </a:rPr>
              <a:t>3 cell channels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50" b="0" i="0">
                <a:solidFill>
                  <a:srgbClr val="333A44"/>
                </a:solidFill>
                <a:latin typeface="Calibri"/>
              </a:rPr>
              <a:t>tumor · T-cell · macrophage — where each population sits in the domain.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816352"/>
            <a:ext cx="109728" cy="86868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816352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00" b="1" i="0">
                <a:solidFill>
                  <a:srgbClr val="27AE60"/>
                </a:solidFill>
                <a:latin typeface="Calibri"/>
              </a:rPr>
              <a:t>5 substrate maps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50" b="0" i="0">
                <a:solidFill>
                  <a:srgbClr val="333A44"/>
                </a:solidFill>
                <a:latin typeface="Calibri"/>
              </a:rPr>
              <a:t>anti-tumoral &amp; pro-tumoral factors, drug_1, tumor_molecule, cytokine.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803904"/>
            <a:ext cx="109728" cy="8686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803904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00" b="1" i="0">
                <a:solidFill>
                  <a:srgbClr val="C0392B"/>
                </a:solidFill>
                <a:latin typeface="Calibri"/>
              </a:rPr>
              <a:t>Drug_1 channel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50" b="0" i="0">
                <a:solidFill>
                  <a:srgbClr val="333A44"/>
                </a:solidFill>
                <a:latin typeface="Calibri"/>
              </a:rPr>
              <a:t>shows exactly where the agent injected — the disc visible in CH 5.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791456"/>
            <a:ext cx="109728" cy="868680"/>
          </a:xfrm>
          <a:prstGeom prst="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791456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400" b="1" i="0">
                <a:solidFill>
                  <a:srgbClr val="1A233B"/>
                </a:solidFill>
                <a:latin typeface="Calibri"/>
              </a:rPr>
              <a:t>Closes the loop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50" b="0" i="0">
                <a:solidFill>
                  <a:srgbClr val="333A44"/>
                </a:solidFill>
                <a:latin typeface="Calibri"/>
              </a:rPr>
              <a:t>the CNN reads co-localisation (e.g. drug ∩ macrophages) directly from pixels — impossible from scalar summaries.</a:t>
            </a:r>
          </a:p>
        </p:txBody>
      </p:sp>
      <p:pic>
        <p:nvPicPr>
          <p:cNvPr id="14" name="Picture 13" descr="observation_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080" y="1325880"/>
            <a:ext cx="4970000" cy="48920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577840" y="6172200"/>
            <a:ext cx="6126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50" b="0" i="1">
                <a:solidFill>
                  <a:srgbClr val="5D6D7E"/>
                </a:solidFill>
                <a:latin typeface="Calibri"/>
              </a:rPr>
              <a:t>Example I2 observation at step 40 — 8 channels (3 cell types + 5 substrates), each 64×64.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5D6D7E"/>
                </a:solidFill>
                <a:latin typeface="Calibri"/>
              </a:rPr>
              <a:t>PhysiGym  Bridging Agent-Based Biological Simulation and RL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5D6D7E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58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C0392B"/>
                </a:solidFill>
                <a:latin typeface="Calibri"/>
              </a:rPr>
              <a:t>RESULTS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Aggregated performance at end of training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71600"/>
          <a:ext cx="77724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2103120"/>
                <a:gridCol w="1005840"/>
                <a:gridCol w="548640"/>
                <a:gridCol w="868680"/>
                <a:gridCol w="868680"/>
                <a:gridCol w="868680"/>
                <a:gridCol w="868680"/>
              </a:tblGrid>
              <a:tr h="509451">
                <a:tc>
                  <a:txBody>
                    <a:bodyPr wrap="non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 marT="25400" marB="25400" marL="76200" marR="50800" anchor="ctr">
                    <a:solidFill>
                      <a:srgbClr val="1A233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Mode</a:t>
                      </a:r>
                    </a:p>
                  </a:txBody>
                  <a:tcPr marT="25400" marB="25400" marL="76200" marR="50800" anchor="ctr">
                    <a:solidFill>
                      <a:srgbClr val="1A233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Dim</a:t>
                      </a:r>
                    </a:p>
                  </a:txBody>
                  <a:tcPr marT="25400" marB="25400" marL="76200" marR="50800" anchor="ctr">
                    <a:solidFill>
                      <a:srgbClr val="1A233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 marT="25400" marB="25400" marL="76200" marR="50800" anchor="ctr">
                    <a:solidFill>
                      <a:srgbClr val="1A233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Trainμ</a:t>
                      </a:r>
                    </a:p>
                  </a:txBody>
                  <a:tcPr marT="25400" marB="25400" marL="76200" marR="50800" anchor="ctr">
                    <a:solidFill>
                      <a:srgbClr val="1A233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Trainσ</a:t>
                      </a:r>
                    </a:p>
                  </a:txBody>
                  <a:tcPr marT="25400" marB="25400" marL="76200" marR="50800" anchor="ctr">
                    <a:solidFill>
                      <a:srgbClr val="1A233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Testμ</a:t>
                      </a:r>
                    </a:p>
                  </a:txBody>
                  <a:tcPr marT="25400" marB="25400" marL="76200" marR="50800" anchor="ctr">
                    <a:solidFill>
                      <a:srgbClr val="1A233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Testσ</a:t>
                      </a:r>
                    </a:p>
                  </a:txBody>
                  <a:tcPr marT="25400" marB="25400" marL="76200" marR="50800" anchor="ctr">
                    <a:solidFill>
                      <a:srgbClr val="1A233B"/>
                    </a:solidFill>
                  </a:tcPr>
                </a:tc>
              </a:tr>
              <a:tr h="509451">
                <a:tc>
                  <a:txBody>
                    <a:bodyPr wrap="none"/>
                    <a:lstStyle/>
                    <a:p>
                      <a:pPr algn="l"/>
                      <a:r>
                        <a:rPr sz="1300" b="1">
                          <a:solidFill>
                            <a:srgbClr val="C0392B"/>
                          </a:solidFill>
                        </a:rPr>
                        <a:t>I2</a:t>
                      </a:r>
                    </a:p>
                  </a:txBody>
                  <a:tcPr marT="25400" marB="25400" marL="76200" marR="50800" anchor="ctr">
                    <a:solidFill>
                      <a:srgbClr val="FBECE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300" b="1">
                          <a:solidFill>
                            <a:srgbClr val="C0392B"/>
                          </a:solidFill>
                        </a:rPr>
                        <a:t>img + substrates</a:t>
                      </a:r>
                    </a:p>
                  </a:txBody>
                  <a:tcPr marT="25400" marB="25400" marL="76200" marR="50800" anchor="ctr">
                    <a:solidFill>
                      <a:srgbClr val="FBECE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</a:rPr>
                        <a:t>8×64²</a:t>
                      </a:r>
                    </a:p>
                  </a:txBody>
                  <a:tcPr marT="25400" marB="25400" marL="76200" marR="50800" anchor="ctr">
                    <a:solidFill>
                      <a:srgbClr val="FBECE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</a:rPr>
                        <a:t>5</a:t>
                      </a:r>
                    </a:p>
                  </a:txBody>
                  <a:tcPr marT="25400" marB="25400" marL="76200" marR="50800" anchor="ctr">
                    <a:solidFill>
                      <a:srgbClr val="FBECE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</a:rPr>
                        <a:t>+77.2</a:t>
                      </a:r>
                    </a:p>
                  </a:txBody>
                  <a:tcPr marT="25400" marB="25400" marL="76200" marR="50800" anchor="ctr">
                    <a:solidFill>
                      <a:srgbClr val="FBECE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</a:rPr>
                        <a:t>8.5</a:t>
                      </a:r>
                    </a:p>
                  </a:txBody>
                  <a:tcPr marT="25400" marB="25400" marL="76200" marR="50800" anchor="ctr">
                    <a:solidFill>
                      <a:srgbClr val="FBECE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</a:rPr>
                        <a:t>+56.5</a:t>
                      </a:r>
                    </a:p>
                  </a:txBody>
                  <a:tcPr marT="25400" marB="25400" marL="76200" marR="50800" anchor="ctr">
                    <a:solidFill>
                      <a:srgbClr val="FBECE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</a:rPr>
                        <a:t>10.3</a:t>
                      </a:r>
                    </a:p>
                  </a:txBody>
                  <a:tcPr marT="25400" marB="25400" marL="76200" marR="50800" anchor="ctr">
                    <a:solidFill>
                      <a:srgbClr val="FBECEA"/>
                    </a:solidFill>
                  </a:tcPr>
                </a:tc>
              </a:tr>
              <a:tr h="509451">
                <a:tc>
                  <a:txBody>
                    <a:bodyPr wrap="none"/>
                    <a:lstStyle/>
                    <a:p>
                      <a:pPr algn="l"/>
                      <a:r>
                        <a:rPr sz="1300" b="0">
                          <a:solidFill>
                            <a:srgbClr val="2B323C"/>
                          </a:solidFill>
                        </a:rPr>
                        <a:t>I1</a:t>
                      </a:r>
                    </a:p>
                  </a:txBody>
                  <a:tcPr marT="25400" marB="25400" marL="762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300" b="0">
                          <a:solidFill>
                            <a:srgbClr val="2B323C"/>
                          </a:solidFill>
                        </a:rPr>
                        <a:t>img cells only</a:t>
                      </a:r>
                    </a:p>
                  </a:txBody>
                  <a:tcPr marT="25400" marB="25400" marL="762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>
                          <a:solidFill>
                            <a:srgbClr val="2B323C"/>
                          </a:solidFill>
                        </a:rPr>
                        <a:t>3×64²</a:t>
                      </a:r>
                    </a:p>
                  </a:txBody>
                  <a:tcPr marT="25400" marB="25400" marL="762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>
                          <a:solidFill>
                            <a:srgbClr val="2B323C"/>
                          </a:solidFill>
                        </a:rPr>
                        <a:t>4</a:t>
                      </a:r>
                    </a:p>
                  </a:txBody>
                  <a:tcPr marT="25400" marB="25400" marL="762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>
                          <a:solidFill>
                            <a:srgbClr val="2B323C"/>
                          </a:solidFill>
                        </a:rPr>
                        <a:t>+50.3</a:t>
                      </a:r>
                    </a:p>
                  </a:txBody>
                  <a:tcPr marT="25400" marB="25400" marL="762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>
                          <a:solidFill>
                            <a:srgbClr val="2B323C"/>
                          </a:solidFill>
                        </a:rPr>
                        <a:t>11.3</a:t>
                      </a:r>
                    </a:p>
                  </a:txBody>
                  <a:tcPr marT="25400" marB="25400" marL="762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>
                          <a:solidFill>
                            <a:srgbClr val="2B323C"/>
                          </a:solidFill>
                        </a:rPr>
                        <a:t>+20.8</a:t>
                      </a:r>
                    </a:p>
                  </a:txBody>
                  <a:tcPr marT="25400" marB="25400" marL="762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>
                          <a:solidFill>
                            <a:srgbClr val="2B323C"/>
                          </a:solidFill>
                        </a:rPr>
                        <a:t>18.2</a:t>
                      </a:r>
                    </a:p>
                  </a:txBody>
                  <a:tcPr marT="25400" marB="25400" marL="76200" marR="50800" anchor="ctr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 wrap="none"/>
                    <a:lstStyle/>
                    <a:p>
                      <a:pPr algn="l"/>
                      <a:r>
                        <a:rPr sz="1300" b="0">
                          <a:solidFill>
                            <a:srgbClr val="2B323C"/>
                          </a:solidFill>
                        </a:rPr>
                        <a:t>S3</a:t>
                      </a:r>
                    </a:p>
                  </a:txBody>
                  <a:tcPr marT="25400" marB="25400" marL="76200" marR="50800" anchor="ctr">
                    <a:solidFill>
                      <a:srgbClr val="F4F6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300" b="0">
                          <a:solidFill>
                            <a:srgbClr val="2B323C"/>
                          </a:solidFill>
                        </a:rPr>
                        <a:t>spatial cells</a:t>
                      </a:r>
                    </a:p>
                  </a:txBody>
                  <a:tcPr marT="25400" marB="25400" marL="76200" marR="50800" anchor="ctr">
                    <a:solidFill>
                      <a:srgbClr val="F4F6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>
                          <a:solidFill>
                            <a:srgbClr val="2B323C"/>
                          </a:solidFill>
                        </a:rPr>
                        <a:t>21</a:t>
                      </a:r>
                    </a:p>
                  </a:txBody>
                  <a:tcPr marT="25400" marB="25400" marL="76200" marR="50800" anchor="ctr">
                    <a:solidFill>
                      <a:srgbClr val="F4F6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>
                          <a:solidFill>
                            <a:srgbClr val="2B323C"/>
                          </a:solidFill>
                        </a:rPr>
                        <a:t>3</a:t>
                      </a:r>
                    </a:p>
                  </a:txBody>
                  <a:tcPr marT="25400" marB="25400" marL="76200" marR="50800" anchor="ctr">
                    <a:solidFill>
                      <a:srgbClr val="F4F6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>
                          <a:solidFill>
                            <a:srgbClr val="2B323C"/>
                          </a:solidFill>
                        </a:rPr>
                        <a:t>+51.2</a:t>
                      </a:r>
                    </a:p>
                  </a:txBody>
                  <a:tcPr marT="25400" marB="25400" marL="76200" marR="50800" anchor="ctr">
                    <a:solidFill>
                      <a:srgbClr val="F4F6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>
                          <a:solidFill>
                            <a:srgbClr val="2B323C"/>
                          </a:solidFill>
                        </a:rPr>
                        <a:t>25.8</a:t>
                      </a:r>
                    </a:p>
                  </a:txBody>
                  <a:tcPr marT="25400" marB="25400" marL="76200" marR="50800" anchor="ctr">
                    <a:solidFill>
                      <a:srgbClr val="F4F6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>
                          <a:solidFill>
                            <a:srgbClr val="2B323C"/>
                          </a:solidFill>
                        </a:rPr>
                        <a:t>+12.4</a:t>
                      </a:r>
                    </a:p>
                  </a:txBody>
                  <a:tcPr marT="25400" marB="25400" marL="76200" marR="50800" anchor="ctr">
                    <a:solidFill>
                      <a:srgbClr val="F4F6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>
                          <a:solidFill>
                            <a:srgbClr val="2B323C"/>
                          </a:solidFill>
                        </a:rPr>
                        <a:t>34.6</a:t>
                      </a:r>
                    </a:p>
                  </a:txBody>
                  <a:tcPr marT="25400" marB="25400" marL="76200" marR="50800" anchor="ctr">
                    <a:solidFill>
                      <a:srgbClr val="F4F6F7"/>
                    </a:solidFill>
                  </a:tcPr>
                </a:tc>
              </a:tr>
              <a:tr h="509451">
                <a:tc>
                  <a:txBody>
                    <a:bodyPr wrap="none"/>
                    <a:lstStyle/>
                    <a:p>
                      <a:pPr algn="l"/>
                      <a:r>
                        <a:rPr sz="1300" b="0">
                          <a:solidFill>
                            <a:srgbClr val="2B323C"/>
                          </a:solidFill>
                        </a:rPr>
                        <a:t>S5</a:t>
                      </a:r>
                    </a:p>
                  </a:txBody>
                  <a:tcPr marT="25400" marB="25400" marL="762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300" b="0">
                          <a:solidFill>
                            <a:srgbClr val="2B323C"/>
                          </a:solidFill>
                        </a:rPr>
                        <a:t>spatial cells+subs</a:t>
                      </a:r>
                    </a:p>
                  </a:txBody>
                  <a:tcPr marT="25400" marB="25400" marL="762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>
                          <a:solidFill>
                            <a:srgbClr val="2B323C"/>
                          </a:solidFill>
                        </a:rPr>
                        <a:t>39</a:t>
                      </a:r>
                    </a:p>
                  </a:txBody>
                  <a:tcPr marT="25400" marB="25400" marL="762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>
                          <a:solidFill>
                            <a:srgbClr val="2B323C"/>
                          </a:solidFill>
                        </a:rPr>
                        <a:t>2</a:t>
                      </a:r>
                    </a:p>
                  </a:txBody>
                  <a:tcPr marT="25400" marB="25400" marL="762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>
                          <a:solidFill>
                            <a:srgbClr val="2B323C"/>
                          </a:solidFill>
                        </a:rPr>
                        <a:t>+3.2</a:t>
                      </a:r>
                    </a:p>
                  </a:txBody>
                  <a:tcPr marT="25400" marB="25400" marL="762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>
                          <a:solidFill>
                            <a:srgbClr val="2B323C"/>
                          </a:solidFill>
                        </a:rPr>
                        <a:t>7.3</a:t>
                      </a:r>
                    </a:p>
                  </a:txBody>
                  <a:tcPr marT="25400" marB="25400" marL="762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>
                          <a:solidFill>
                            <a:srgbClr val="2B323C"/>
                          </a:solidFill>
                        </a:rPr>
                        <a:t>+0.5</a:t>
                      </a:r>
                    </a:p>
                  </a:txBody>
                  <a:tcPr marT="25400" marB="25400" marL="762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>
                          <a:solidFill>
                            <a:srgbClr val="2B323C"/>
                          </a:solidFill>
                        </a:rPr>
                        <a:t>0.5</a:t>
                      </a:r>
                    </a:p>
                  </a:txBody>
                  <a:tcPr marT="25400" marB="25400" marL="76200" marR="50800" anchor="ctr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 wrap="none"/>
                    <a:lstStyle/>
                    <a:p>
                      <a:pPr algn="l"/>
                      <a:r>
                        <a:rPr sz="1300" b="0">
                          <a:solidFill>
                            <a:srgbClr val="2B323C"/>
                          </a:solidFill>
                        </a:rPr>
                        <a:t>S2</a:t>
                      </a:r>
                    </a:p>
                  </a:txBody>
                  <a:tcPr marT="25400" marB="25400" marL="76200" marR="50800" anchor="ctr">
                    <a:solidFill>
                      <a:srgbClr val="F4F6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300" b="0">
                          <a:solidFill>
                            <a:srgbClr val="2B323C"/>
                          </a:solidFill>
                        </a:rPr>
                        <a:t>scalar cells+subs</a:t>
                      </a:r>
                    </a:p>
                  </a:txBody>
                  <a:tcPr marT="25400" marB="25400" marL="76200" marR="50800" anchor="ctr">
                    <a:solidFill>
                      <a:srgbClr val="F4F6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>
                          <a:solidFill>
                            <a:srgbClr val="2B323C"/>
                          </a:solidFill>
                        </a:rPr>
                        <a:t>8</a:t>
                      </a:r>
                    </a:p>
                  </a:txBody>
                  <a:tcPr marT="25400" marB="25400" marL="76200" marR="50800" anchor="ctr">
                    <a:solidFill>
                      <a:srgbClr val="F4F6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>
                          <a:solidFill>
                            <a:srgbClr val="2B323C"/>
                          </a:solidFill>
                        </a:rPr>
                        <a:t>4</a:t>
                      </a:r>
                    </a:p>
                  </a:txBody>
                  <a:tcPr marT="25400" marB="25400" marL="76200" marR="50800" anchor="ctr">
                    <a:solidFill>
                      <a:srgbClr val="F4F6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>
                          <a:solidFill>
                            <a:srgbClr val="2B323C"/>
                          </a:solidFill>
                        </a:rPr>
                        <a:t>−16.8</a:t>
                      </a:r>
                    </a:p>
                  </a:txBody>
                  <a:tcPr marT="25400" marB="25400" marL="76200" marR="50800" anchor="ctr">
                    <a:solidFill>
                      <a:srgbClr val="F4F6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>
                          <a:solidFill>
                            <a:srgbClr val="2B323C"/>
                          </a:solidFill>
                        </a:rPr>
                        <a:t>38.3</a:t>
                      </a:r>
                    </a:p>
                  </a:txBody>
                  <a:tcPr marT="25400" marB="25400" marL="76200" marR="50800" anchor="ctr">
                    <a:solidFill>
                      <a:srgbClr val="F4F6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>
                          <a:solidFill>
                            <a:srgbClr val="2B323C"/>
                          </a:solidFill>
                        </a:rPr>
                        <a:t>+12.3</a:t>
                      </a:r>
                    </a:p>
                  </a:txBody>
                  <a:tcPr marT="25400" marB="25400" marL="76200" marR="50800" anchor="ctr">
                    <a:solidFill>
                      <a:srgbClr val="F4F6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>
                          <a:solidFill>
                            <a:srgbClr val="2B323C"/>
                          </a:solidFill>
                        </a:rPr>
                        <a:t>27.0</a:t>
                      </a:r>
                    </a:p>
                  </a:txBody>
                  <a:tcPr marT="25400" marB="25400" marL="76200" marR="50800" anchor="ctr">
                    <a:solidFill>
                      <a:srgbClr val="F4F6F7"/>
                    </a:solidFill>
                  </a:tcPr>
                </a:tc>
              </a:tr>
              <a:tr h="509454">
                <a:tc>
                  <a:txBody>
                    <a:bodyPr wrap="none"/>
                    <a:lstStyle/>
                    <a:p>
                      <a:pPr algn="l"/>
                      <a:r>
                        <a:rPr sz="1300" b="0">
                          <a:solidFill>
                            <a:srgbClr val="2B323C"/>
                          </a:solidFill>
                        </a:rPr>
                        <a:t>S1</a:t>
                      </a:r>
                    </a:p>
                  </a:txBody>
                  <a:tcPr marT="25400" marB="25400" marL="762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300" b="0">
                          <a:solidFill>
                            <a:srgbClr val="2B323C"/>
                          </a:solidFill>
                        </a:rPr>
                        <a:t>scalar cells</a:t>
                      </a:r>
                    </a:p>
                  </a:txBody>
                  <a:tcPr marT="25400" marB="25400" marL="762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>
                          <a:solidFill>
                            <a:srgbClr val="2B323C"/>
                          </a:solidFill>
                        </a:rPr>
                        <a:t>3</a:t>
                      </a:r>
                    </a:p>
                  </a:txBody>
                  <a:tcPr marT="25400" marB="25400" marL="762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>
                          <a:solidFill>
                            <a:srgbClr val="2B323C"/>
                          </a:solidFill>
                        </a:rPr>
                        <a:t>4</a:t>
                      </a:r>
                    </a:p>
                  </a:txBody>
                  <a:tcPr marT="25400" marB="25400" marL="762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>
                          <a:solidFill>
                            <a:srgbClr val="2B323C"/>
                          </a:solidFill>
                        </a:rPr>
                        <a:t>+5.9</a:t>
                      </a:r>
                    </a:p>
                  </a:txBody>
                  <a:tcPr marT="25400" marB="25400" marL="762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>
                          <a:solidFill>
                            <a:srgbClr val="2B323C"/>
                          </a:solidFill>
                        </a:rPr>
                        <a:t>22.0</a:t>
                      </a:r>
                    </a:p>
                  </a:txBody>
                  <a:tcPr marT="25400" marB="25400" marL="762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>
                          <a:solidFill>
                            <a:srgbClr val="2B323C"/>
                          </a:solidFill>
                        </a:rPr>
                        <a:t>+17.6</a:t>
                      </a:r>
                    </a:p>
                  </a:txBody>
                  <a:tcPr marT="25400" marB="25400" marL="762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300" b="0">
                          <a:solidFill>
                            <a:srgbClr val="2B323C"/>
                          </a:solidFill>
                        </a:rPr>
                        <a:t>22.5</a:t>
                      </a:r>
                    </a:p>
                  </a:txBody>
                  <a:tcPr marT="25400" marB="25400" marL="76200" marR="5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412480" y="1371600"/>
            <a:ext cx="3200400" cy="3566160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0" y="1463040"/>
            <a:ext cx="288036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600" b="1" i="0">
                <a:solidFill>
                  <a:srgbClr val="1A233B"/>
                </a:solidFill>
                <a:latin typeface="Calibri"/>
              </a:rPr>
              <a:t>Key findings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50" b="0" i="0">
                <a:solidFill>
                  <a:srgbClr val="333A44"/>
                </a:solidFill>
                <a:latin typeface="Calibri"/>
              </a:rPr>
              <a:t>• Substrate channels are decisive: I1→I2 gives the largest jump (+27 train / +36 test).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50" b="0" i="0">
                <a:solidFill>
                  <a:srgbClr val="333A44"/>
                </a:solidFill>
                <a:latin typeface="Calibri"/>
              </a:rPr>
              <a:t>• More scalar features doesn’t help — substrate scalars (S2) are even harmful.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50" b="0" i="0">
                <a:solidFill>
                  <a:srgbClr val="333A44"/>
                </a:solidFill>
                <a:latin typeface="Calibri"/>
              </a:rPr>
              <a:t>• Image modes show 3–4× lower seed variance (I2 σ=8.5 vs S2 σ=38.3).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1663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 i="0">
                <a:solidFill>
                  <a:srgbClr val="C0392B"/>
                </a:solidFill>
                <a:latin typeface="Calibri"/>
              </a:rPr>
              <a:t>Spatially explicit image observations including substrate maps learn faster and generalize better than scalar summaries.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5D6D7E"/>
                </a:solidFill>
                <a:latin typeface="Calibri"/>
              </a:rPr>
              <a:t>PhysiGym  Bridging Agent-Based Biological Simulation and RL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5D6D7E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58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C0392B"/>
                </a:solidFill>
                <a:latin typeface="Calibri"/>
              </a:rPr>
              <a:t>RESULTS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Learning curves: training &amp; generalization</a:t>
            </a:r>
          </a:p>
        </p:txBody>
      </p:sp>
      <p:pic>
        <p:nvPicPr>
          <p:cNvPr id="5" name="Picture 4" descr="train_return_mean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72" y="1325880"/>
            <a:ext cx="5317055" cy="4023360"/>
          </a:xfrm>
          <a:prstGeom prst="rect">
            <a:avLst/>
          </a:prstGeom>
        </p:spPr>
      </p:pic>
      <p:pic>
        <p:nvPicPr>
          <p:cNvPr id="6" name="Picture 5" descr="test_return_mean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932" y="1325880"/>
            <a:ext cx="5325815" cy="4023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34924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0" i="1">
                <a:solidFill>
                  <a:srgbClr val="5D6D7E"/>
                </a:solidFill>
                <a:latin typeface="Calibri"/>
              </a:rPr>
              <a:t>Training return (EWMA-50). I2 (red) separates after ≈0.5×10⁵ steps and widens the gap; scalar modes plateau below +35.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534924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0" i="1">
                <a:solidFill>
                  <a:srgbClr val="5D6D7E"/>
                </a:solidFill>
                <a:latin typeface="Calibri"/>
              </a:rPr>
              <a:t>Test return on held-out layouts. I2 keeps climbing; I1 &amp; scalar modes barely improve with high variance.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5D6D7E"/>
                </a:solidFill>
                <a:latin typeface="Calibri"/>
              </a:rPr>
              <a:t>PhysiGym  Bridging Agent-Based Biological Simulation and RL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5D6D7E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58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C0392B"/>
                </a:solidFill>
                <a:latin typeface="Calibri"/>
              </a:rPr>
              <a:t>RESULTS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Generalisation to held-out layouts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17320"/>
          <a:ext cx="51206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325880"/>
                <a:gridCol w="1325880"/>
                <a:gridCol w="1280160"/>
              </a:tblGrid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Mode</a:t>
                      </a:r>
                    </a:p>
                  </a:txBody>
                  <a:tcPr anchor="ctr" marT="25400" marB="25400"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Test avg</a:t>
                      </a:r>
                    </a:p>
                  </a:txBody>
                  <a:tcPr anchor="ctr" marT="25400" marB="25400"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Rectangle</a:t>
                      </a:r>
                    </a:p>
                  </a:txBody>
                  <a:tcPr anchor="ctr" marT="25400" marB="25400"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Circular</a:t>
                      </a:r>
                    </a:p>
                  </a:txBody>
                  <a:tcPr anchor="ctr" marT="25400" marB="25400">
                    <a:solidFill>
                      <a:srgbClr val="1A233B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C0392B"/>
                          </a:solidFill>
                        </a:rPr>
                        <a:t>I2</a:t>
                      </a:r>
                    </a:p>
                  </a:txBody>
                  <a:tcPr anchor="ctr" marT="25400" marB="25400"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</a:rPr>
                        <a:t>+56.5</a:t>
                      </a:r>
                    </a:p>
                  </a:txBody>
                  <a:tcPr anchor="ctr" marT="25400" marB="25400"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</a:rPr>
                        <a:t>+44.5</a:t>
                      </a:r>
                    </a:p>
                  </a:txBody>
                  <a:tcPr anchor="ctr" marT="25400" marB="25400"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</a:rPr>
                        <a:t>+97.9</a:t>
                      </a:r>
                    </a:p>
                  </a:txBody>
                  <a:tcPr anchor="ctr" marT="25400" marB="25400">
                    <a:solidFill>
                      <a:srgbClr val="FBECEA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323C"/>
                          </a:solidFill>
                        </a:rPr>
                        <a:t>I1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323C"/>
                          </a:solidFill>
                        </a:rPr>
                        <a:t>+20.8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323C"/>
                          </a:solidFill>
                        </a:rPr>
                        <a:t>−0.6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323C"/>
                          </a:solidFill>
                        </a:rPr>
                        <a:t>+5.0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323C"/>
                          </a:solidFill>
                        </a:rPr>
                        <a:t>S3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323C"/>
                          </a:solidFill>
                        </a:rPr>
                        <a:t>+12.4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323C"/>
                          </a:solidFill>
                        </a:rPr>
                        <a:t>+112.7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323C"/>
                          </a:solidFill>
                        </a:rPr>
                        <a:t>+16.3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323C"/>
                          </a:solidFill>
                        </a:rPr>
                        <a:t>S5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323C"/>
                          </a:solidFill>
                        </a:rPr>
                        <a:t>+0.5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323C"/>
                          </a:solidFill>
                        </a:rPr>
                        <a:t>+85.1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323C"/>
                          </a:solidFill>
                        </a:rPr>
                        <a:t>−37.6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323C"/>
                          </a:solidFill>
                        </a:rPr>
                        <a:t>S2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323C"/>
                          </a:solidFill>
                        </a:rPr>
                        <a:t>+12.3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323C"/>
                          </a:solidFill>
                        </a:rPr>
                        <a:t>+40.2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323C"/>
                          </a:solidFill>
                        </a:rPr>
                        <a:t>−47.7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49639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323C"/>
                          </a:solidFill>
                        </a:rPr>
                        <a:t>S1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323C"/>
                          </a:solidFill>
                        </a:rPr>
                        <a:t>+17.6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323C"/>
                          </a:solidFill>
                        </a:rPr>
                        <a:t>−7.7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B323C"/>
                          </a:solidFill>
                        </a:rPr>
                        <a:t>−20.5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029200"/>
            <a:ext cx="51206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333A44"/>
                </a:solidFill>
                <a:latin typeface="Calibri"/>
              </a:rPr>
              <a:t>I2 achieves the best average test return and the best circular return (+97.9).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333A44"/>
                </a:solidFill>
                <a:latin typeface="Calibri"/>
              </a:rPr>
              <a:t>I1 fails on both OOD layouts — cell-image policies overfit without substrate feedback.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333A44"/>
                </a:solidFill>
                <a:latin typeface="Calibri"/>
              </a:rPr>
              <a:t>Scalar modes generalize inconsistently (note the single-seed S3 rectangle outlier).</a:t>
            </a:r>
          </a:p>
        </p:txBody>
      </p:sp>
      <p:pic>
        <p:nvPicPr>
          <p:cNvPr id="7" name="Picture 6" descr="test_layou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319602"/>
            <a:ext cx="5669280" cy="295031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5D6D7E"/>
                </a:solidFill>
                <a:latin typeface="Calibri"/>
              </a:rPr>
              <a:t>PhysiGym  Bridging Agent-Based Biological Simulation and RL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5D6D7E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58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C0392B"/>
                </a:solidFill>
                <a:latin typeface="Calibri"/>
              </a:rPr>
              <a:t>MECHANISM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Step-by-step episode: why substrate maps win</a:t>
            </a:r>
          </a:p>
        </p:txBody>
      </p:sp>
      <p:pic>
        <p:nvPicPr>
          <p:cNvPr id="5" name="Picture 4" descr="fig_episod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167" y="1280160"/>
            <a:ext cx="5137345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371600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A233B"/>
                </a:solidFill>
                <a:latin typeface="Calibri"/>
              </a:rPr>
              <a:t>run_000143 — near-eradication episode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920240"/>
            <a:ext cx="548640" cy="548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I2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1920240"/>
            <a:ext cx="4572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333A44"/>
                </a:solidFill>
                <a:latin typeface="Calibri"/>
              </a:rPr>
              <a:t>near-eradication: 4 tumor cells, +175 return, 35.4 dose.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697480"/>
            <a:ext cx="548640" cy="54864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6974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2697480"/>
            <a:ext cx="4572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333A44"/>
                </a:solidFill>
                <a:latin typeface="Calibri"/>
              </a:rPr>
              <a:t>partial control: 14 cells, +106 return, 31.1 dose.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3474720"/>
            <a:ext cx="548640" cy="548640"/>
          </a:xfrm>
          <a:prstGeom prst="rect">
            <a:avLst/>
          </a:prstGeom>
          <a:solidFill>
            <a:srgbClr val="5D6D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4747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I1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3474720"/>
            <a:ext cx="4572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333A44"/>
                </a:solidFill>
                <a:latin typeface="Calibri"/>
              </a:rPr>
              <a:t>fails: 112 cells, −7.4 return, only 12.2 dose.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4480560"/>
            <a:ext cx="5303520" cy="1691640"/>
          </a:xfrm>
          <a:prstGeom prst="rect">
            <a:avLst/>
          </a:prstGeom>
          <a:solidFill>
            <a:srgbClr val="F4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4572000"/>
            <a:ext cx="49834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C0392B"/>
                </a:solidFill>
                <a:latin typeface="Calibri"/>
              </a:rPr>
              <a:t>Two failure modes: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33A44"/>
                </a:solidFill>
                <a:latin typeface="Calibri"/>
              </a:rPr>
              <a:t>I1 under-medicates — without substrate feedback it can’t tell if injections reached macrophages.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33A44"/>
                </a:solidFill>
                <a:latin typeface="Calibri"/>
              </a:rPr>
              <a:t>S3 suppresses early but can’t finish — it lacks the substrate spatial feedback for the final push to eradication.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5D6D7E"/>
                </a:solidFill>
                <a:latin typeface="Calibri"/>
              </a:rPr>
              <a:t>PhysiGym  Bridging Agent-Based Biological Simulation and RL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5D6D7E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58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C0392B"/>
                </a:solidFill>
                <a:latin typeface="Calibri"/>
              </a:rPr>
              <a:t>IN ACTION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Learned policy vs. random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5669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C0392B"/>
                </a:solidFill>
                <a:latin typeface="Calibri"/>
              </a:rPr>
              <a:t>Learned policy — two best state spaces (I2 &amp; S3)</a:t>
            </a:r>
          </a:p>
        </p:txBody>
      </p:sp>
      <p:pic>
        <p:nvPicPr>
          <p:cNvPr id="6" name="merged_run_000148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7200" y="1783080"/>
            <a:ext cx="5669280" cy="229651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486400"/>
            <a:ext cx="5669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333A44"/>
                </a:solidFill>
                <a:latin typeface="Calibri"/>
              </a:rPr>
              <a:t>run_000148 — side-by-side rollout of the two best observation modes. The agent targets drug injections to repolarise macrophages and clear a path for T-cells.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3444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5D6D7E"/>
                </a:solidFill>
                <a:latin typeface="Calibri"/>
              </a:rPr>
              <a:t>Random policy — baseline</a:t>
            </a:r>
          </a:p>
        </p:txBody>
      </p:sp>
      <p:pic>
        <p:nvPicPr>
          <p:cNvPr id="9" name="video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943103" y="1783080"/>
            <a:ext cx="4401794" cy="3566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5486400"/>
            <a:ext cx="5486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333A44"/>
                </a:solidFill>
                <a:latin typeface="Calibri"/>
              </a:rPr>
              <a:t>Untrained / random drug deployment — the tumor is not controlled, illustrating the difficulty of the indirect-control task.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5D6D7E"/>
                </a:solidFill>
                <a:latin typeface="Calibri"/>
              </a:rPr>
              <a:t>PhysiGym  Bridging Agent-Based Biological Simulation and RL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5D6D7E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5855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C0392B"/>
                </a:solidFill>
                <a:latin typeface="Calibri"/>
              </a:rPr>
              <a:t>TRAINING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Asynchronous Soft Actor-Critic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54864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1" i="0">
                <a:solidFill>
                  <a:srgbClr val="2E86C1"/>
                </a:solidFill>
                <a:latin typeface="Calibri"/>
              </a:rPr>
              <a:t>Setup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0" i="0">
                <a:solidFill>
                  <a:srgbClr val="333A44"/>
                </a:solidFill>
                <a:latin typeface="Calibri"/>
              </a:rPr>
              <a:t>• SAC — sample-efficient continuous control; handles image obs via CNNs.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0" i="0">
                <a:solidFill>
                  <a:srgbClr val="333A44"/>
                </a:solidFill>
                <a:latin typeface="Calibri"/>
              </a:rPr>
              <a:t>• Asynchronous parallel framework: a GPU learner updates networks while 9 CPU env processes generate experience.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0" i="0">
                <a:solidFill>
                  <a:srgbClr val="333A44"/>
                </a:solidFill>
                <a:latin typeface="Calibri"/>
              </a:rPr>
              <a:t>• Scalar modes: MLP  FC(256)→Mish→FC(256).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00" b="0" i="0">
                <a:solidFill>
                  <a:srgbClr val="333A44"/>
                </a:solidFill>
                <a:latin typeface="Calibri"/>
              </a:rPr>
              <a:t>• Image modes: IMPALA-style CNN (3 conv → flatten → FC(256)×2).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325880"/>
          <a:ext cx="51206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01168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 anchor="ctr" marT="12700" marB="12700"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 anchor="ctr" marT="12700" marB="12700">
                    <a:solidFill>
                      <a:srgbClr val="1A23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B323C"/>
                          </a:solidFill>
                        </a:rPr>
                        <a:t>Total training steps</a:t>
                      </a:r>
                    </a:p>
                  </a:txBody>
                  <a:tcPr anchor="ctr" marT="12700" marB="127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B323C"/>
                          </a:solidFill>
                        </a:rPr>
                        <a:t>5×10⁵</a:t>
                      </a:r>
                    </a:p>
                  </a:txBody>
                  <a:tcPr anchor="ctr" marT="12700" marB="12700">
                    <a:solidFill>
                      <a:srgbClr val="F4F6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B323C"/>
                          </a:solidFill>
                        </a:rPr>
                        <a:t>Replay buffer size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B323C"/>
                          </a:solidFill>
                        </a:rPr>
                        <a:t>3×10⁵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B323C"/>
                          </a:solidFill>
                        </a:rPr>
                        <a:t>Batch size</a:t>
                      </a:r>
                    </a:p>
                  </a:txBody>
                  <a:tcPr anchor="ctr" marT="12700" marB="127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B323C"/>
                          </a:solidFill>
                        </a:rPr>
                        <a:t>576</a:t>
                      </a:r>
                    </a:p>
                  </a:txBody>
                  <a:tcPr anchor="ctr" marT="12700" marB="12700">
                    <a:solidFill>
                      <a:srgbClr val="F4F6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B323C"/>
                          </a:solidFill>
                        </a:rPr>
                        <a:t>Warm-up steps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B323C"/>
                          </a:solidFill>
                        </a:rPr>
                        <a:t>5,000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B323C"/>
                          </a:solidFill>
                        </a:rPr>
                        <a:t>Policy / critic LR</a:t>
                      </a:r>
                    </a:p>
                  </a:txBody>
                  <a:tcPr anchor="ctr" marT="12700" marB="127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B323C"/>
                          </a:solidFill>
                        </a:rPr>
                        <a:t>3×10⁻⁴</a:t>
                      </a:r>
                    </a:p>
                  </a:txBody>
                  <a:tcPr anchor="ctr" marT="12700" marB="12700">
                    <a:solidFill>
                      <a:srgbClr val="F4F6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B323C"/>
                          </a:solidFill>
                        </a:rPr>
                        <a:t>Discount γ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B323C"/>
                          </a:solidFill>
                        </a:rPr>
                        <a:t>0.99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B323C"/>
                          </a:solidFill>
                        </a:rPr>
                        <a:t>Target smoothing τ</a:t>
                      </a:r>
                    </a:p>
                  </a:txBody>
                  <a:tcPr anchor="ctr" marT="12700" marB="127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B323C"/>
                          </a:solidFill>
                        </a:rPr>
                        <a:t>0.005</a:t>
                      </a:r>
                    </a:p>
                  </a:txBody>
                  <a:tcPr anchor="ctr" marT="12700" marB="12700">
                    <a:solidFill>
                      <a:srgbClr val="F4F6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B323C"/>
                          </a:solidFill>
                        </a:rPr>
                        <a:t>Parallel envs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B323C"/>
                          </a:solidFill>
                        </a:rPr>
                        <a:t>9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B323C"/>
                          </a:solidFill>
                        </a:rPr>
                        <a:t>Update loops / step</a:t>
                      </a:r>
                    </a:p>
                  </a:txBody>
                  <a:tcPr anchor="ctr" marT="12700" marB="127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B323C"/>
                          </a:solidFill>
                        </a:rPr>
                        <a:t>3</a:t>
                      </a:r>
                    </a:p>
                  </a:txBody>
                  <a:tcPr anchor="ctr" marT="12700" marB="12700"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598932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1">
                <a:solidFill>
                  <a:srgbClr val="5D6D7E"/>
                </a:solidFill>
                <a:latin typeface="Calibri"/>
              </a:rPr>
              <a:t>SAC hyperparameters (TME v2 experiments).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5D6D7E"/>
                </a:solidFill>
                <a:latin typeface="Calibri"/>
              </a:rPr>
              <a:t>PhysiGym  Bridging Agent-Based Biological Simulation and RL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5D6D7E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90472"/>
            <a:ext cx="182880" cy="1828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1732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PhysiGym bridges PhysiCell &amp; Gymnasium</a:t>
            </a:r>
            <a:r>
              <a:rPr sz="1500" b="0" i="0">
                <a:solidFill>
                  <a:srgbClr val="C8CFDA"/>
                </a:solidFill>
                <a:latin typeface="Calibri"/>
              </a:rPr>
              <a:t>  —  direct RL policy learning in spatially explicit biological simulations, no recompilation, arbitrary obs/action spaces.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542032"/>
            <a:ext cx="182880" cy="1828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End-to-end case study works</a:t>
            </a:r>
            <a:r>
              <a:rPr sz="1500" b="0" i="0">
                <a:solidFill>
                  <a:srgbClr val="C8CFDA"/>
                </a:solidFill>
                <a:latin typeface="Calibri"/>
              </a:rPr>
              <a:t>  —  a SAC agent learns a spatial drug-delivery policy that drives the TME anti-tumoral and, at best, eradicates the tumor.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593592"/>
            <a:ext cx="182880" cy="1828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52044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Substrate spatial images are the critical state</a:t>
            </a:r>
            <a:r>
              <a:rPr sz="1500" b="0" i="0">
                <a:solidFill>
                  <a:srgbClr val="C8CFDA"/>
                </a:solidFill>
                <a:latin typeface="Calibri"/>
              </a:rPr>
              <a:t>  —  +71 train / +39 test points over scalar baselines — a causal mechanism: they close the drug→repolarisation feedback loop.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645152"/>
            <a:ext cx="182880" cy="1828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57200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 reproducible testbed</a:t>
            </a:r>
            <a:r>
              <a:rPr sz="1500" b="0" i="0">
                <a:solidFill>
                  <a:srgbClr val="C8CFDA"/>
                </a:solidFill>
                <a:latin typeface="Calibri"/>
              </a:rPr>
              <a:t>  —  for both the computational-biology and RL communities to study these questions principally.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172200"/>
            <a:ext cx="1072865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E86C1"/>
                </a:solidFill>
                <a:latin typeface="Calibri"/>
              </a:rPr>
              <a:t>Open source:  https://anonymous.4open.science/r/PhysiGym-76A7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